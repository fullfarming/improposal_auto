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강조점: 정량적 실적 기반의 차별화된 전문성, 특히 매각 속도와 가격 프리미엄 달성 능력</a:t>
            </a:r>
          </a:p>
          <a:p/>
          <a:p>
            <a:r>
              <a:t>[Template notes] Each quadrant must include specific numbers - avoid generic capability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3대 핵심 가치가 상호 보완하여 프리미엄 투자기회를 창출</a:t>
            </a:r>
          </a:p>
          <a:p/>
          <a:p>
            <a:r>
              <a:t>[Template notes] asset_understanding 섹션 표준 factsheet 형태로 구성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임차인 품질과 만료 시점 분산이 투자 리스크를 최소화하여 안정적 수익 창출 가능</a:t>
            </a:r>
          </a:p>
          <a:p/>
          <a:p>
            <a:r>
              <a:t>[Template notes] 개별 임차인명 대신 익명화된 집계 데이터로 컴플라이언스 준수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회복 모멘텀과 공급 증가 리스크를 대비한 전략적 매각 타이밍임을 강조</a:t>
            </a:r>
          </a:p>
          <a:p/>
          <a:p>
            <a:r>
              <a:t>[Template notes] 정량 데이터는 차트로 시각화, 매각 타이밍 논리는 bullets로 명확화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테헤란로 입지가 단순한 위치가 아닌 비즈니스 생태계의 핵심이며, 이것이 안정적 수요 창출의 근본 동력임을 강조</a:t>
            </a:r>
          </a:p>
          <a:p/>
          <a:p>
            <a:r>
              <a:t>[Template notes] 자산 위치를 브랜드 컬러로 강조, 경쟁 자산과 차별화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거래사례가 제공하는 객관적 근거를 바탕으로 목표 자산의 프리미엄 포지셔닝 정당화</a:t>
            </a:r>
          </a:p>
          <a:p/>
          <a:p>
            <a:r>
              <a:t>[Template notes] pricing_logic 섹션 표준 밸류에이션 브리지 형태로 시각화하여 논리적 흐름 강화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상단 가격이지만 테헤란로 입지와 자산 품질을 고려할 때 충분히 달성 가능한 현실적 목표</a:t>
            </a:r>
          </a:p>
          <a:p/>
          <a:p>
            <a:r>
              <a:t>[Template notes] pricing_logic 섹션 표준 - 밸류에이션 브릿지 형태로 프리미엄 근거와 목표가격 연계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상장 리츠의 압도적 우위를 데이터로 입증하되, 경쟁 심화 가능성도 간략히 언급하여 균형감 유지</a:t>
            </a:r>
          </a:p>
          <a:p/>
          <a:p>
            <a:r>
              <a:t>[Template notes] 매트릭스는 자산적합성/실행력/가격경쟁력 축으로 구성, 상장 리츠 우위 영역을 색상으로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블라인드펀드의 높은 가격 지불 의향을 강조하되, 실행 리스크로 인한 타임라인 지연 가능성을 균형있게 제시</a:t>
            </a:r>
          </a:p>
          <a:p/>
          <a:p>
            <a:r>
              <a:t>[Template notes] buyer_strategy 섹션 표준 포맷으로 의사결정 지원 정보 구조화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 입찰 구조 설계를 통한 체계적 가치 극대화 접근법이 핵심 차별화 요소</a:t>
            </a:r>
          </a:p>
          <a:p/>
          <a:p>
            <a:r>
              <a:t>[Template notes] Sale Strategy 섹션 표준: 전략적 프레임워크 다이어그램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단계별 접촉 전략의 핵심은 자연스러운 경쟁 구도 형성을 통한 가격 상향 압력 극대화</a:t>
            </a:r>
          </a:p>
          <a:p/>
          <a:p>
            <a:r>
              <a:t>[Template notes] Visual should show strategic flow from price discovery to competition to negotiation leverage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체계적 3단계 접근으로 시장 최적 타이밍 확보하여 매각가치 극대화</a:t>
            </a:r>
          </a:p>
          <a:p/>
          <a:p>
            <a:r>
              <a:t>[Template notes] Emphasize strategic timing advantage and risk mitigation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체계적 리스크 관리 프레임워크를 통해 거래 성공 확률을 85%까지 제고</a:t>
            </a:r>
          </a:p>
          <a:p/>
          <a:p>
            <a:r>
              <a:t>[Template notes] execution_plan 섹션 표준: 프로세스 중심 시각화, 책임 주체 명시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검증된 매각 실적을 통한 전문성과 신뢰성 강조</a:t>
            </a:r>
          </a:p>
          <a:p/>
          <a:p>
            <a:r>
              <a:t>[Template notes] 구체적 수치 데이터 확보 후 테이블 형태로 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전담팀 배정과 성과 인센티브를 통한 실행 확신 제공</a:t>
            </a:r>
          </a:p>
          <a:p/>
          <a:p>
            <a:r>
              <a:t>[Template notes] 팀 프로필과 수수료 구조 데이터 확보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99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Us /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</a:rPr>
              <a:t>Why 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강남 프라임 오피스 매각 자문 전문성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Grade A 오피스 매각 실적과 기관투자자 직접 접근 역량 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[REQUIRES VALIDATION] 최근 3년간 강남권 Grade A 오피스 매각 자문 X건, 총 거래규모 X조원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[REQUIRES VALIDATION] 상장 리츠 및 블라인드펀드 직접 접근 채널 X개사 보유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[REQUIRES VALIDATION] ESG 인증 프라임 오피스 매각 성공률 X% (업계 평균 대비 +X%p)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[REQUIRES VALIDATION] 기관투자자 맞춤 투자 스토리 구성으로 평균 매각 기간 X개월 단축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[DATA GAP] 최근 3년 강남권 Grade A 오피스 매각 자문 실적 (건수, 거래금액) │ [DATA GAP] 주요 기관투자자 네트워크 현황 (리츠, 펀드, 보험사 등) │ [DATA GAP] ESG 인증 자산 매각 성공 사례 및 프리미엄 달성률 │ [DATA GAP] 경쟁사 대비 매각 기간 단축 실적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credentials_matrix  |  2x2 matrix: Track Record | Network Access | ESG Expertise | Speed Advantage with quantified metrics in each quadrant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99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Asset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</a:rPr>
              <a:t>자산 이해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자산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테헤란로 프라임 자산의 3대 투자 가치 요소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희소 입지 × ESG 인증 × 안정 현금흐름으로 구성된 프리미엄 투자기회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100" b="1">
                <a:solidFill>
                  <a:srgbClr val="1B2A4A"/>
                </a:solidFill>
              </a:rPr>
              <a:t>• 프라임 입지: 테헤란로 CBD 핵심, 대체불가 희소성</a:t>
            </a:r>
          </a:p>
          <a:p>
            <a:pPr/>
            <a:r>
              <a:rPr sz="1100" b="0">
                <a:solidFill>
                  <a:srgbClr val="666666"/>
                </a:solidFill>
              </a:rPr>
              <a:t>• ESG 우위: LEED Gold 인증, 국내 상위 5% 수준</a:t>
            </a:r>
          </a:p>
          <a:p>
            <a:pPr/>
            <a:r>
              <a:rPr sz="1100" b="0">
                <a:solidFill>
                  <a:srgbClr val="666666"/>
                </a:solidFill>
              </a:rPr>
              <a:t>• 안정 수익: 점유율 92.5%, 글로벌 우량 임차인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5394960" cy="41148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B2A4A"/>
                </a:solidFill>
              </a:rPr>
              <a:t>KEY EVIDENCE</a:t>
            </a:r>
          </a:p>
          <a:p>
            <a:pPr/>
            <a:r>
              <a:rPr sz="950" b="0">
                <a:solidFill>
                  <a:srgbClr val="666666"/>
                </a:solidFill>
              </a:rPr>
              <a:t>  — 연간 NOI: 285억원</a:t>
            </a:r>
          </a:p>
          <a:p>
            <a:pPr/>
            <a:r>
              <a:rPr sz="950" b="0">
                <a:solidFill>
                  <a:srgbClr val="666666"/>
                </a:solidFill>
              </a:rPr>
              <a:t>  — WALE: 3.2년</a:t>
            </a:r>
          </a:p>
          <a:p>
            <a:pPr/>
            <a:r>
              <a:rPr sz="950" b="0">
                <a:solidFill>
                  <a:srgbClr val="666666"/>
                </a:solidFill>
              </a:rPr>
              <a:t>  — 주요 임차인: 글로벌 IT/금융사</a:t>
            </a:r>
          </a:p>
          <a:p>
            <a:pPr/>
            <a:r>
              <a:rPr sz="950" b="0">
                <a:solidFill>
                  <a:srgbClr val="666666"/>
                </a:solidFill>
              </a:rPr>
              <a:t>  — 2023년 로비 리모델링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6B1A"/>
                </a:solidFill>
              </a:rPr>
              <a:t>[VISUAL] asset_factsheet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자산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우량 임차인 포트폴리오로 안정적 현금흐름 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A급 신용등급 임차인 중심 구성으로 중기 수익 안정성 보장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100" b="1">
                <a:solidFill>
                  <a:srgbClr val="1B2A4A"/>
                </a:solidFill>
              </a:rPr>
              <a:t>• 상위 3개 임차인이 52% 집중, 모두 A급 이상 신용등급 보유</a:t>
            </a:r>
          </a:p>
          <a:p>
            <a:pPr/>
            <a:r>
              <a:rPr sz="1100" b="0">
                <a:solidFill>
                  <a:srgbClr val="666666"/>
                </a:solidFill>
              </a:rPr>
              <a:t>• IT/금융/컨설팅 업종 분산으로 집중 리스크 완화</a:t>
            </a:r>
          </a:p>
          <a:p>
            <a:pPr/>
            <a:r>
              <a:rPr sz="1100" b="0">
                <a:solidFill>
                  <a:srgbClr val="666666"/>
                </a:solidFill>
              </a:rPr>
              <a:t>• 가중평균 임대차 만료 3.2년으로 중기 안정성 확보</a:t>
            </a:r>
          </a:p>
          <a:p>
            <a:pPr/>
            <a:r>
              <a:rPr sz="1100" b="0">
                <a:solidFill>
                  <a:srgbClr val="666666"/>
                </a:solidFill>
              </a:rPr>
              <a:t>• 현재 점유율 92.5%로 시장 평균 대비 우수한 운영 성과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5394960" cy="41148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B2A4A"/>
                </a:solidFill>
              </a:rPr>
              <a:t>KEY EVIDENCE</a:t>
            </a:r>
          </a:p>
          <a:p>
            <a:pPr/>
            <a:r>
              <a:rPr sz="950" b="0">
                <a:solidFill>
                  <a:srgbClr val="666666"/>
                </a:solidFill>
              </a:rPr>
              <a:t>  — 임차인 신용등급: A급 이상 85%, BBB급 15%</a:t>
            </a:r>
          </a:p>
          <a:p>
            <a:pPr/>
            <a:r>
              <a:rPr sz="950" b="0">
                <a:solidFill>
                  <a:srgbClr val="666666"/>
                </a:solidFill>
              </a:rPr>
              <a:t>  — 업종 분산: IT 35%, 금융 30%, 컨설팅 20%, 기타 15%</a:t>
            </a:r>
          </a:p>
          <a:p>
            <a:pPr/>
            <a:r>
              <a:rPr sz="950" b="0">
                <a:solidFill>
                  <a:srgbClr val="666666"/>
                </a:solidFill>
              </a:rPr>
              <a:t>  — 만료시점 분산: 2026년 25%, 2027년 40%, 2028년 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6B1A"/>
                </a:solidFill>
              </a:rPr>
              <a:t>[VISUAL] tenant_factsheet_panel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99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Market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</a:rPr>
              <a:t>시장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시장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시장 회복세 지속, 2025-2026년 매각 최적 윈도우 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오피스 투자거래 회복세와 신규 공급 지연으로 매각 호기 형성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오피스 투자거래량 8.2조원(YoY +12.5%), 캡레이트 4.0-4.8% 안정화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리츠/블라인드펀드 중심 프라임 자산 매수 수요 지속 확대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2027년 신규 공급 본격화 이전 매각 완료로 경쟁 회피 필수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현 시점 매각 시 최적 가격 실현 및 유동성 확보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거래량 YoY +12.5% │ 캡레이트 4.0-4.8% 밴드 │ 신규 공급 2027-28년 집중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market_trend_chart  |  좌측: 거래량/캡레이트 이중축 차트, 우측: 매각 윈도우 타임라인 with 신규공급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시장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5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테헤란로 프라임 입지가 안정적 임차 수요를 보장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강남 핵심 비즈니스 구역 내 최적 입지로 지속적 임차인 확보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강남역 도보 5분 - 전국 최고 수준의 교통 접근성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글로벌 IT·금융·컨설팅 기업 밀집 지역 - 프라임 임차인 풀 확보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테헤란로 브랜드 프리미엄 - 본사급 기업 유치 경쟁력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대규모 인프라 투자로 입지 가치 지속 상승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현재 점유율 92.5% (시장 평균 대비 +7.2%p) │ 영동대로 복합환승센터 2027년 완공 예정 │ 반경 500m 내 Fortune 500 기업 12개사 입주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location_heatmap_with_timeline  |  좌측: 테헤란로 입지 히트맵 + 주요 기업 분포, 우측: 개발 계획 타임라인 + 점유율 비교 차트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99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Pricing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</a:rPr>
              <a:t>가치평가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가치평가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거래사례 분석 결과 6,330-6,790억원 밸류에이션 도출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GBD/강남권 최근 거래사례 캡레이트 4.2-4.5% 적용 시 목표 자산 적정가치 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150" b="1">
                <a:solidFill>
                  <a:srgbClr val="1B2A4A"/>
                </a:solidFill>
              </a:rPr>
              <a:t>• 최근 6개월 거래사례 캡레이트 4.2-4.7% 범위 (강남 오피스 4.2%, 테헤란로 4.5%, GBD 4.7%)</a:t>
            </a:r>
          </a:p>
          <a:p>
            <a:pPr/>
            <a:r>
              <a:rPr sz="1150" b="0">
                <a:solidFill>
                  <a:srgbClr val="666666"/>
                </a:solidFill>
              </a:rPr>
              <a:t>• 목표 자산 프리미엄 요소 반영하여 4.2-4.5% 상단 포지셔닝 적용</a:t>
            </a:r>
          </a:p>
          <a:p>
            <a:pPr/>
            <a:r>
              <a:rPr sz="1150" b="0">
                <a:solidFill>
                  <a:srgbClr val="666666"/>
                </a:solidFill>
              </a:rPr>
              <a:t>• NOI 285억원 기준 밸류에이션 6,330-6,790억원 도출</a:t>
            </a:r>
          </a:p>
          <a:p>
            <a:pPr/>
            <a:r>
              <a:rPr sz="1150" b="0">
                <a:solidFill>
                  <a:srgbClr val="666666"/>
                </a:solidFill>
              </a:rPr>
              <a:t>• ㎡당 단가 1,980-2,120만원 수준으로 시장 프리미엄 반영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4480560" cy="3474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8F0F8"/>
                </a:solidFill>
              </a:rPr>
              <a:t>VALUATION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6B1A"/>
                </a:solidFill>
              </a:rPr>
              <a:t>[CHART RECOMMENDATION] valuation_bridge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가치평가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7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매각 목표가 6,700억원 - 프리미엄 자산 가치 반영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테헤란로 입지 프리미엄과 안정 현금흐름 기반 6,700억원 목표 (협상범위 6,500-6,900억원)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150" b="1">
                <a:solidFill>
                  <a:srgbClr val="1B2A4A"/>
                </a:solidFill>
              </a:rPr>
              <a:t>• 목표가격 6,700억원 (캡레이트 4.25%, ㎡당 2,090만원)</a:t>
            </a:r>
          </a:p>
          <a:p>
            <a:pPr/>
            <a:r>
              <a:rPr sz="1150" b="0">
                <a:solidFill>
                  <a:srgbClr val="666666"/>
                </a:solidFill>
              </a:rPr>
              <a:t>• 테헤란로 코어 입지 + LEED 인증 + 장기임대차 안정성 프리미엄 적용</a:t>
            </a:r>
          </a:p>
          <a:p>
            <a:pPr/>
            <a:r>
              <a:rPr sz="1150" b="0">
                <a:solidFill>
                  <a:srgbClr val="666666"/>
                </a:solidFill>
              </a:rPr>
              <a:t>• 시장 거래사례 상단 수준이나 희소 자산 특성으로 정당화 가능</a:t>
            </a:r>
          </a:p>
          <a:p>
            <a:pPr/>
            <a:r>
              <a:rPr sz="1150" b="0">
                <a:solidFill>
                  <a:srgbClr val="666666"/>
                </a:solidFill>
              </a:rPr>
              <a:t>• 협상범위: 최소 6,500억원 ~ 최대 6,900억원 (주요 투자자 수용범위 내)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4480560" cy="3474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8F0F8"/>
                </a:solidFill>
              </a:rPr>
              <a:t>VALUATION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6B1A"/>
                </a:solidFill>
              </a:rPr>
              <a:t>[CHART RECOMMENDATION] valuation_bridge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99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Buyer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</a:rPr>
              <a:t>매수자 전략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매수자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8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상장 리츠가 최우선 타겟 - 자산 적합성과 실행력 모두 우수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안정 배당 추구 성향과 자산 특성이 완벽 부합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자산 적합성: 92.5% 점유율·3.2년 WALE → 안정 배당 포트폴리오에 이상적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티켓사이즈: 600-800억원 규모가 상장 리츠 평균 거래액과 정확히 일치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실행 확실성: 투명한 의사결정 구조 + 자금조달 용이성으로 거래 리스크 최소화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가격 경쟁력: 안정성 프리미엄 지불 의향, 4.2-4.5% 캡레이트 수용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최근 유사 거래 3건 모두 4.2-4.7% 캡레이트 성사 │ 주요 K-REITs 평균 보유 현금 1,200억원 │ 2025년 리츠 거래 참여율 전년 대비 15%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buyer_matrix  |  좌측: 매수자 유형별 적합성 매트릭스 (상장리츠/사모펀드/개발사 비교), 우측: 상장 리츠 핵심 강점 하이라이트 박스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매수자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9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블라인드펀드: 업사이드 스토리 기반 프리미엄 가격 지불 의향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공실 해소 및 리포지셔닝 업사이드로 높은 밸류에이션 기대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투자 논리: 공실률 해소 시 NOI 8% 상승으로 연 2.3억원 추가 수익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가격 경쟁력: 업사이드 기대감으로 캡레이트 3.8-4.2% 지불 의향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자금 여력: 주요 펀드 평균 드라이파우더 2,000억원으로 충분한 투자 여력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실행 리스크: 복잡한 승인 구조로 3-4개월 실사 기간 및 의사결정 지연 가능성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임대료 갱신 시 시장 대비 5-8% 상승 여지 │ 2025년 사모펀드 오피스 투자 비중 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buyer_matrix  |  2x2 매트릭스: 투자매력도(높음) vs 실행가능성(중간), 가격의향 및 리스크 요소 병기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99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Recommended Sale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</a:rPr>
              <a:t>매각 전략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매각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10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경쟁 입찰 구조로 6,700억원 목표가 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리츠-펀드 간 경쟁 구도 조성을 통한 프리미엄 가격 실현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2-Track 경쟁 구조: 상장리츠 vs 사모펀드 세그먼트 분리 접근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차별화 메시징: 리츠 대상 '안정 수익', 펀드 대상 '가치 상승' 포지셔닝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최적 타이밍: 2025년 하반기 완료로 신규 공급 리스크 회피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희소성 극대화: 테헤란로 코어 입지 + LEED 인증 프리미엄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타겟 매수자 풀 20개사 (상장리츠 5개, 사모펀드 8개, 기타 7개) │ 예상 최종 입찰자 3-4개사로 충분한 경쟁 강도 확보 │ 최근 유사 거래 대비 상단 밸류에이션 포지셔닝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strategic_framework_diagram  |  중앙 경쟁 구조 다이어그램 (리츠 vs 펀드), 하단 실행 타임라인, 우측 희소성 요소 하이라이트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매각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11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순차적 매수자 접촉으로 경쟁 구도 최적화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3단계 접촉 전략으로 목표 캡레이트 4.0-4.3% 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K-REITs 우선 접촉으로 시장 기준가 형성 및 거래 신뢰도 확보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사모펀드 참여 유도로 프리미엄 경쟁 구도 조성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외국계/엔드유저 백업 라인으로 협상력 극대화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세그먼트별 차별화 가치 제안으로 최적 경쟁 환경 구축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예상 참여: LOI 6-8개사, 최종 입찰 3-4개사 │ 각 세그먼트 의사결정 타임라인 최적화로 경쟁 효과 극대화 │ 목표 캡레이트 4.0-4.3% 달성을 위한 전략적 접촉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strategic framework diagram  |  Top: 3-phase timeline diagram, Bottom: buyer segmentation matrix with value propositions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99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</a:rPr>
              <a:t>실행 계획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12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14주 실행계획으로 2025년 Q4 최적 매각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3단계 체계적 프로세스로 시장 타이밍 최적화 및 매각가치 극대화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1247120" cy="7315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67128" y="3072384"/>
            <a:ext cx="329184" cy="32918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B2A4A"/>
                </a:solidFill>
              </a:rPr>
              <a:t>Phase 1 (Week 1-4): 마케팅 준비 및 상장리츠 우선 접촉</a:t>
            </a:r>
          </a:p>
        </p:txBody>
      </p:sp>
      <p:sp>
        <p:nvSpPr>
          <p:cNvPr id="11" name="Oval 10"/>
          <p:cNvSpPr/>
          <p:nvPr/>
        </p:nvSpPr>
        <p:spPr>
          <a:xfrm>
            <a:off x="5916168" y="3072384"/>
            <a:ext cx="329184" cy="32918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3474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B2A4A"/>
                </a:solidFill>
              </a:rPr>
              <a:t>Phase 2 (Week 5-8): 블라인드펀드 확대 접촉 및 실사 진행</a:t>
            </a:r>
          </a:p>
        </p:txBody>
      </p:sp>
      <p:sp>
        <p:nvSpPr>
          <p:cNvPr id="13" name="Oval 12"/>
          <p:cNvSpPr/>
          <p:nvPr/>
        </p:nvSpPr>
        <p:spPr>
          <a:xfrm>
            <a:off x="9665208" y="3072384"/>
            <a:ext cx="329184" cy="32918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1031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B2A4A"/>
                </a:solidFill>
              </a:rPr>
              <a:t>Phase 3 (Week 9-14): 입찰 수집, 협상 및 거래 완료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11430000" cy="16459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000" b="0">
                <a:solidFill>
                  <a:srgbClr val="666666"/>
                </a:solidFill>
              </a:rPr>
              <a:t>• 단계별 충분한 검토기간으로 최적 매수자 발굴</a:t>
            </a:r>
          </a:p>
          <a:p>
            <a:pPr/>
            <a:r>
              <a:rPr sz="1000" b="0">
                <a:solidFill>
                  <a:srgbClr val="666666"/>
                </a:solidFill>
              </a:rPr>
              <a:t>• 2025년 Q4 완료로 신규공급 리스크 회피</a:t>
            </a:r>
          </a:p>
          <a:p>
            <a:pPr/>
            <a:r>
              <a:rPr sz="1000" b="0">
                <a:solidFill>
                  <a:srgbClr val="666666"/>
                </a:solidFill>
              </a:rPr>
              <a:t>• 명확한 게이트 관리로 실행 리스크 최소화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13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리스크 관리 프레임워크로 거래 성공률 85% 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4대 핵심 리스크 영역별 완화 전략 수립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1247120" cy="7315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8498" y="3072384"/>
            <a:ext cx="329184" cy="32918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27203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B2A4A"/>
                </a:solidFill>
              </a:rPr>
              <a:t>매수자 리스크: 20개사 다층 타겟팅으로 선택권 확보</a:t>
            </a:r>
          </a:p>
        </p:txBody>
      </p:sp>
      <p:sp>
        <p:nvSpPr>
          <p:cNvPr id="11" name="Oval 10"/>
          <p:cNvSpPr/>
          <p:nvPr/>
        </p:nvSpPr>
        <p:spPr>
          <a:xfrm>
            <a:off x="4510278" y="3072384"/>
            <a:ext cx="329184" cy="32918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4700" y="3474720"/>
            <a:ext cx="27203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B2A4A"/>
                </a:solidFill>
              </a:rPr>
              <a:t>자산 리스크: LEED 인증·92.5% 점유율로 실사 이슈 최소화</a:t>
            </a:r>
          </a:p>
        </p:txBody>
      </p:sp>
      <p:sp>
        <p:nvSpPr>
          <p:cNvPr id="13" name="Oval 12"/>
          <p:cNvSpPr/>
          <p:nvPr/>
        </p:nvSpPr>
        <p:spPr>
          <a:xfrm>
            <a:off x="7322058" y="3072384"/>
            <a:ext cx="329184" cy="32918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103120"/>
            <a:ext cx="27203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B2A4A"/>
                </a:solidFill>
              </a:rPr>
              <a:t>시장 리스크: 2025년 하반기 완료로 사이클 변동 회피</a:t>
            </a:r>
          </a:p>
        </p:txBody>
      </p:sp>
      <p:sp>
        <p:nvSpPr>
          <p:cNvPr id="15" name="Oval 14"/>
          <p:cNvSpPr/>
          <p:nvPr/>
        </p:nvSpPr>
        <p:spPr>
          <a:xfrm>
            <a:off x="10133838" y="3072384"/>
            <a:ext cx="329184" cy="32918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8260" y="3474720"/>
            <a:ext cx="27203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B2A4A"/>
                </a:solidFill>
              </a:rPr>
              <a:t>실행 리스크: 주간 진행점검 및 마일스톤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11430000" cy="16459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000" b="0">
                <a:solidFill>
                  <a:srgbClr val="666666"/>
                </a:solidFill>
              </a:rPr>
              <a:t>• 매수자 세그먼트별 5개사씩 분산 접촉</a:t>
            </a:r>
          </a:p>
          <a:p>
            <a:pPr/>
            <a:r>
              <a:rPr sz="1000" b="0">
                <a:solidFill>
                  <a:srgbClr val="666666"/>
                </a:solidFill>
              </a:rPr>
              <a:t>• 우량 자산 특성으로 DD 리스크 제한적</a:t>
            </a:r>
          </a:p>
          <a:p>
            <a:pPr/>
            <a:r>
              <a:rPr sz="1000" b="0">
                <a:solidFill>
                  <a:srgbClr val="666666"/>
                </a:solidFill>
              </a:rPr>
              <a:t>• [REQUIRES VALIDATION] 85% 성공률 산정 근거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99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Track Record / Team / Fees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</a:rPr>
              <a:t>실적 / 팀 / 수수료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실적 / 팀 / 수수료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강남권 프라임 오피스 매각 전문성 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최근 3년간 강남권 프라임 오피스 매각 성공 실적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[DATA GAP] 총 매각 거래 규모 및 건수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[DATA GAP] 대표 성공 사례 3건 (자산명, 규모, 매각가)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[DATA GAP] 평균 매각 기간 및 프리미엄 달성률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[DATA GAP] 거래 실적 요약표 │ [DATA GAP] 대표 사례별 상세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track_record_table  |  상단 총 실적 요약, 하단 대표 사례 테이블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실적 / 팀 / 수수료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15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</a:rPr>
              <a:t>전담팀 구성 및 성과 연동 수수료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99"/>
                </a:solidFill>
              </a:rPr>
              <a:t>시니어급 전담팀 배정 및 성과 기반 수수료로 이익 정렬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1B2A4A"/>
                </a:solidFill>
              </a:rPr>
              <a:t>• [DATA GAP] 시니어 디렉터 주도 전담팀 구성원 프로필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투자자 관계팀-마케팅팀 협업을 통한 통합 서비스</a:t>
            </a:r>
          </a:p>
          <a:p>
            <a:pPr/>
            <a:r>
              <a:rPr sz="1200" b="0">
                <a:solidFill>
                  <a:srgbClr val="666666"/>
                </a:solidFill>
              </a:rPr>
              <a:t>• [REQUIRES VALIDATION] 성과 연동 수수료로 클라이언트 이익과 정렬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143000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B2A4A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900" b="0">
                <a:solidFill>
                  <a:srgbClr val="666666"/>
                </a:solidFill>
              </a:rPr>
              <a:t>[DATA GAP] 팀 구성원별 경력 및 전문 분야 │ [DATA GAP] 수수료 구조 상세 내역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6B1A"/>
                </a:solidFill>
              </a:rPr>
              <a:t>[VISUAL] team_structure_diagram  |  좌측 팀 구성도, 우측 수수료 구조 요약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